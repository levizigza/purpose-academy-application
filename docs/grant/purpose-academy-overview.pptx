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17"/>
                </a:solidFill>
                <a:latin typeface="Calibri"/>
              </a:rPr>
              <a:t>PRODUCT OVERVIEW · CALGARY TRADES SCHOOL LEARNING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Purpose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0EC"/>
                </a:solidFill>
                <a:latin typeface="Calibri"/>
              </a:rPr>
              <a:t>Workplace English and trades foundations — Construction, Logistics, and Community Support — practised one station at a time.</a:t>
            </a:r>
          </a:p>
        </p:txBody>
      </p:sp>
      <p:pic>
        <p:nvPicPr>
          <p:cNvPr id="5" name="Picture 4" descr="01-mode-choo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2148840"/>
            <a:ext cx="6437376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0EC"/>
                </a:solidFill>
                <a:latin typeface="Calibri"/>
              </a:rPr>
              <a:t>1 / 10  ·  Desktop or Phone — same school, two ways 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ADULT LEARNERS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F5C"/>
                </a:solidFill>
                <a:latin typeface="Georgia"/>
              </a:rPr>
              <a:t>Who it’s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71E3D"/>
                </a:solidFill>
                <a:latin typeface="Calibri"/>
              </a:rPr>
              <a:t>Newcomers and first-time trades learners who want workplace English with adult dignity. Soft chrome for people who may fear school — never childish gamification.</a:t>
            </a:r>
          </a:p>
        </p:txBody>
      </p:sp>
      <p:pic>
        <p:nvPicPr>
          <p:cNvPr id="5" name="Picture 4" descr="02-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8521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F4156"/>
                </a:solidFill>
                <a:latin typeface="Calibri"/>
              </a:rPr>
              <a:t>2 / 10  ·  Night-stage door — open into the workshop.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ONE SCHOOL · TWO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Georgia"/>
              </a:rPr>
              <a:t>Desktop and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71E3D"/>
                </a:solidFill>
                <a:latin typeface="Calibri"/>
              </a:rPr>
              <a:t>Desktop opens the toolbox, then the full web course on a calm night stage. Phone is a live device-frame demo of the same path.</a:t>
            </a:r>
          </a:p>
        </p:txBody>
      </p:sp>
      <p:pic>
        <p:nvPicPr>
          <p:cNvPr id="5" name="Picture 4" descr="03b-toolbox-tr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97405"/>
            <a:ext cx="5577840" cy="3486150"/>
          </a:xfrm>
          <a:prstGeom prst="rect">
            <a:avLst/>
          </a:prstGeom>
        </p:spPr>
      </p:pic>
      <p:pic>
        <p:nvPicPr>
          <p:cNvPr id="6" name="Picture 5" descr="demo-phone-home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9520"/>
            <a:ext cx="5577840" cy="39219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F4156"/>
                </a:solidFill>
                <a:latin typeface="Calibri"/>
              </a:rPr>
              <a:t>Toolbox trays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F4156"/>
                </a:solidFill>
                <a:latin typeface="Calibri"/>
              </a:rPr>
              <a:t>Phone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F4156"/>
                </a:solidFill>
                <a:latin typeface="Calibri"/>
              </a:rPr>
              <a:t>3 / 10  ·  Toolbox trays  ·  Phone 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CONSTRUCTION · LOGISTICS · COMMUNITY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F5C"/>
                </a:solidFill>
                <a:latin typeface="Georgia"/>
              </a:rPr>
              <a:t>Three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71E3D"/>
                </a:solidFill>
                <a:latin typeface="Calibri"/>
              </a:rPr>
              <a:t>Same Practice spine for every door. Specialty vocabulary and scenes change with the pathway. Today’s station stays in focus.</a:t>
            </a:r>
          </a:p>
        </p:txBody>
      </p:sp>
      <p:pic>
        <p:nvPicPr>
          <p:cNvPr id="5" name="Picture 4" descr="04-practice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8521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F4156"/>
                </a:solidFill>
                <a:latin typeface="Calibri"/>
              </a:rPr>
              <a:t>4 / 10  ·  Practice hub — pick a pathway, enter today’s station.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SEE → HEAR HOME LANGUAGE → HEAR ENGLISH →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F5C"/>
                </a:solidFill>
                <a:latin typeface="Georgia"/>
              </a:rPr>
              <a:t>Visual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71E3D"/>
                </a:solidFill>
                <a:latin typeface="Calibri"/>
              </a:rPr>
              <a:t>Look at the object. Press a language you trust. Hear the English workplace word. Then type it. Finite pages — leave when you need to.</a:t>
            </a:r>
          </a:p>
        </p:txBody>
      </p:sp>
      <p:pic>
        <p:nvPicPr>
          <p:cNvPr id="5" name="Picture 4" descr="06-visual-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8521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F4156"/>
                </a:solidFill>
                <a:latin typeface="Calibri"/>
              </a:rPr>
              <a:t>5 / 10  ·  VocabSheet on the desktop night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PRACTICE ON PHONE AND DESKTOP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Georgia"/>
              </a:rPr>
              <a:t>Stations that stay 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71E3D"/>
                </a:solidFill>
                <a:latin typeface="Calibri"/>
              </a:rPr>
              <a:t>The same Visual Vocabulary station fits inside the phone frame. Task, picture, and languages stay unmistakable — no cluttered exam board.</a:t>
            </a:r>
          </a:p>
        </p:txBody>
      </p:sp>
      <p:pic>
        <p:nvPicPr>
          <p:cNvPr id="5" name="Picture 4" descr="06-visual-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97405"/>
            <a:ext cx="5577840" cy="3486150"/>
          </a:xfrm>
          <a:prstGeom prst="rect">
            <a:avLst/>
          </a:prstGeom>
        </p:spPr>
      </p:pic>
      <p:pic>
        <p:nvPicPr>
          <p:cNvPr id="6" name="Picture 5" descr="walkthrough-vv-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48394"/>
            <a:ext cx="5577840" cy="3984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F4156"/>
                </a:solidFill>
                <a:latin typeface="Calibri"/>
              </a:rPr>
              <a:t>Desktop VocabSheet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F4156"/>
                </a:solidFill>
                <a:latin typeface="Calibri"/>
              </a:rPr>
              <a:t>Phone 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F4156"/>
                </a:solidFill>
                <a:latin typeface="Calibri"/>
              </a:rPr>
              <a:t>6 / 10  ·  Desktop VocabSheet  ·  Phone station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CLEAR THE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F5C"/>
                </a:solidFill>
                <a:latin typeface="Georgia"/>
              </a:rPr>
              <a:t>Eye Spy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71E3D"/>
                </a:solidFill>
                <a:latin typeface="Calibri"/>
              </a:rPr>
              <a:t>Tap a picture, name it in English, clear the board. Same workplace words in busy shop scenes — a concrete win without scoreboard shame.</a:t>
            </a:r>
          </a:p>
        </p:txBody>
      </p:sp>
      <p:pic>
        <p:nvPicPr>
          <p:cNvPr id="5" name="Picture 4" descr="07-eye-s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8521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F4156"/>
                </a:solidFill>
                <a:latin typeface="Calibri"/>
              </a:rPr>
              <a:t>7 / 10  ·  Eye Spy — match the English name, clear every pair.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FINITE PATH · DONE FOR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F5C"/>
                </a:solidFill>
                <a:latin typeface="Georgia"/>
              </a:rPr>
              <a:t>Learner dignity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71E3D"/>
                </a:solidFill>
                <a:latin typeface="Calibri"/>
              </a:rPr>
              <a:t>One station in focus. The Practice banner names the path. Done for now is always available. No casino streaks. No “prove yourself” exam theatre in learner chrome.</a:t>
            </a:r>
          </a:p>
        </p:txBody>
      </p:sp>
      <p:pic>
        <p:nvPicPr>
          <p:cNvPr id="5" name="Picture 4" descr="09-dig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8521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F4156"/>
                </a:solidFill>
                <a:latin typeface="Calibri"/>
              </a:rPr>
              <a:t>8 / 10  ·  Soft Practice chrome with Done for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HONEST CONTINUUM — NOT A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F5C"/>
                </a:solidFill>
                <a:latin typeface="Georgia"/>
              </a:rPr>
              <a:t>Skills Passport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71E3D"/>
                </a:solidFill>
                <a:latin typeface="Calibri"/>
              </a:rPr>
              <a:t>Learned → Practised → Competent. Practice alone is not Red Seal, apprenticeship certification, or a job guarantee. Competent still needs a real instructor.</a:t>
            </a:r>
          </a:p>
        </p:txBody>
      </p:sp>
      <p:pic>
        <p:nvPicPr>
          <p:cNvPr id="5" name="Picture 4" descr="05-pas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8521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F4156"/>
                </a:solidFill>
                <a:latin typeface="Calibri"/>
              </a:rPr>
              <a:t>9 / 10  ·  Skills Passport honesty copy in Practice.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17"/>
                </a:solidFill>
                <a:latin typeface="Calibri"/>
              </a:rPr>
              <a:t>PURPOSE ACADEMY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Built in Calgary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E0EC"/>
                </a:solidFill>
                <a:latin typeface="Calibri"/>
              </a:rPr>
              <a:t>Construction · Logistics · Community Support Foundations. Open the Contact tray in the toolbox when you want to talk next.</a:t>
            </a:r>
          </a:p>
        </p:txBody>
      </p:sp>
      <p:pic>
        <p:nvPicPr>
          <p:cNvPr id="5" name="Picture 4" descr="01-mode-choo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2697480"/>
            <a:ext cx="5413248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0EC"/>
                </a:solidFill>
                <a:latin typeface="Calibri"/>
              </a:rPr>
              <a:t>10 / 10  ·  One school. One station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